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B1F3B"/>
                </a:solidFill>
                <a:latin typeface="Calibri"/>
              </a:rPr>
              <a:t>Positie- en beweging</a:t>
            </a:r>
          </a:p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B1F3B"/>
                </a:solidFill>
                <a:latin typeface="Calibri"/>
              </a:rPr>
              <a:t>meettoestel met LoRa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6B5C"/>
                </a:solidFill>
                <a:latin typeface="Calibri"/>
              </a:rPr>
              <a:t>G-STEM-P  2026-2027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333855"/>
                </a:solidFill>
                <a:latin typeface="Calibri"/>
              </a:rPr>
              <a:t>Nand Schoovaerts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38950" y="1765896"/>
            <a:ext cx="4792980" cy="314332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vice-illustra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4946"/>
            <a:ext cx="4754880" cy="3105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52578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A6072"/>
                </a:solidFill>
                <a:latin typeface="Calibri"/>
              </a:rPr>
              <a:t>Voorgesteld uitzicht van het meettoestel (concept)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INLEIDING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Wat is het project?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33855"/>
                </a:solidFill>
                <a:latin typeface="Calibri"/>
              </a:rPr>
              <a:t>Een klein meettoestel op een bewegend voertuig meet vier grootheden en stuurt ze via LoRa naar de laptop-app.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2514600" cy="105156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07792"/>
            <a:ext cx="2240280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Richting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1B1F3B"/>
                </a:solidFill>
                <a:latin typeface="Calibri"/>
              </a:rPr>
              <a:t>hoe schuin of recht het toestel staat (graden)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834640"/>
            <a:ext cx="2514600" cy="105156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907792"/>
            <a:ext cx="2240280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Snelheid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1B1F3B"/>
                </a:solidFill>
                <a:latin typeface="Calibri"/>
              </a:rPr>
              <a:t>hoe snel het beweegt (km/u)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834640"/>
            <a:ext cx="2514600" cy="105156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907792"/>
            <a:ext cx="2240280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Hoogte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1B1F3B"/>
                </a:solidFill>
                <a:latin typeface="Calibri"/>
              </a:rPr>
              <a:t>nauwkeurig tot op 1,5 meter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2834640"/>
            <a:ext cx="2514600" cy="105156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4584" y="2907792"/>
            <a:ext cx="2240280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Locatie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1B1F3B"/>
                </a:solidFill>
                <a:latin typeface="Calibri"/>
              </a:rPr>
              <a:t>nauwkeurig tot op 0,5 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33855"/>
                </a:solidFill>
                <a:latin typeface="Calibri"/>
              </a:rPr>
              <a:t>Draadloze ontvanger in USB-stickvorm. Bereik: tot 4 km.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20640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Meettoestel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5404104.0"/>
            <a:ext cx="539496" cy="0.0"/>
          </a:xfrm>
          <a:prstGeom prst="line">
            <a:avLst/>
          </a:prstGeom>
          <a:ln w="25400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11880" y="5120640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5120640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LoRa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88152" y="5404104.0"/>
            <a:ext cx="539496" cy="0.0"/>
          </a:xfrm>
          <a:prstGeom prst="line">
            <a:avLst/>
          </a:prstGeom>
          <a:ln w="25400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400800" y="5120640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5120640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USB-ontvanger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77072" y="5404104.0"/>
            <a:ext cx="539496" cy="0.0"/>
          </a:xfrm>
          <a:prstGeom prst="line">
            <a:avLst/>
          </a:prstGeom>
          <a:ln w="25400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5120640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5120640"/>
            <a:ext cx="1920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Laptop-app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1">
                <a:solidFill>
                  <a:srgbClr val="5A6072"/>
                </a:solidFill>
                <a:latin typeface="Calibri"/>
              </a:rPr>
              <a:t>De volledige keten volgt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Welke sensoren gebruik ik?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664208"/>
            <a:ext cx="21854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1F3B"/>
                </a:solidFill>
                <a:latin typeface="Calibri"/>
              </a:rPr>
              <a:t>IMU (9-DoF)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Richting, versnelling en hoeksnelheid.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4448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64208"/>
            <a:ext cx="21854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1F3B"/>
                </a:solidFill>
                <a:latin typeface="Calibri"/>
              </a:rPr>
              <a:t>Barometer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Luchtdruk en hoogte.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64208"/>
            <a:ext cx="21854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1F3B"/>
                </a:solidFill>
                <a:latin typeface="Calibri"/>
              </a:rPr>
              <a:t>RTK-GNSS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Locatie tot op 0,5 m, met eigen antenne.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1463040"/>
            <a:ext cx="2514600" cy="22860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72016" y="1664208"/>
            <a:ext cx="2185416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B1F3B"/>
                </a:solidFill>
                <a:latin typeface="Calibri"/>
              </a:rPr>
              <a:t>ESP32-S3 + LoRa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Leest alles uit en zendt draadloos.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5120640" cy="86868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87952"/>
            <a:ext cx="484632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Voeding: 7,4 V-accu en LED-status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1B1F3B"/>
                </a:solidFill>
                <a:latin typeface="Calibri"/>
              </a:rPr>
              <a:t>start automatisch met het voertuig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120640" cy="86868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187952"/>
            <a:ext cx="484632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3D-geprinte behuizing met demping</a:t>
            </a:r>
          </a:p>
          <a:p>
            <a:pPr algn="ctr">
              <a:spcAft>
                <a:spcPts val="200"/>
              </a:spcAft>
            </a:pPr>
            <a:r>
              <a:rPr sz="1150" b="0" i="0">
                <a:solidFill>
                  <a:srgbClr val="1B1F3B"/>
                </a:solidFill>
                <a:latin typeface="Calibri"/>
              </a:rPr>
              <a:t>beschermt tegen schokken en trillingen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492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5A6072"/>
                </a:solidFill>
                <a:latin typeface="Calibri"/>
              </a:rPr>
              <a:t>Een ESP32-S3 leest alle sensoren uit.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DE APPLICATIE - DEEL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Verbinding controleren en live data zien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De app start vanzelf wanneer de USB-ontvanger wordt ingestoken. Op elk scherm staat de status van de ontvanger en het meettoestel.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5982" y="1901190"/>
            <a:ext cx="2771716" cy="19583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2-scherm1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32" y="1920240"/>
            <a:ext cx="2733616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977639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Scherm 1 - Verbindingscontrole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Controleert de verbindingen. De gebruiker klikt op OK om door te gaan.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9777" y="1901190"/>
            <a:ext cx="2808366" cy="19583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3-scherm2-ka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827" y="1920240"/>
            <a:ext cx="2770266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3977639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Scherm 2 - Kaart en live data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3D-kaart met satellietfotos toont de afgelegde weg en kijkrichting; een tabel toont alle losse meetwaarden.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DE APPLICATIE - DEEL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Besturen vanuit de app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Via de knop Besturing kies je een voertuigspecifieke bedieningspagina; elk voertuig heeft zijn eigen bediening.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5237" y="1901190"/>
            <a:ext cx="2813206" cy="19583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-scherm3-bestu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287" y="1920240"/>
            <a:ext cx="2775106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977639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Scherm 3 - Besturingsmenu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Drie applicatie-iconen, een per voertuigtype. Elk icoon opent de bijbehorende besturingspagina.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7077" y="1901190"/>
            <a:ext cx="2813766" cy="19583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9C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5-scherm4-a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127" y="1920240"/>
            <a:ext cx="2775666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3977639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1F3B"/>
                </a:solidFill>
                <a:latin typeface="Calibri"/>
              </a:rPr>
              <a:t>Scherm 4 - Besturing (auto)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855"/>
                </a:solidFill>
                <a:latin typeface="Calibri"/>
              </a:rPr>
              <a:t>Stuur door te klikken en slepen; het gaspedaal indrukken laat het voertuig vooruit rijden.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COMMUNICATIE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Hoe praten alle onderdelen met elkaar?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00200"/>
            <a:ext cx="2286000" cy="566928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1F3B"/>
                </a:solidFill>
                <a:latin typeface="Calibri"/>
              </a:rPr>
              <a:t>IMU (9-DoF)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2286000" cy="566928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1F3B"/>
                </a:solidFill>
                <a:latin typeface="Calibri"/>
              </a:rPr>
              <a:t>Barometer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40"/>
            <a:ext cx="2286000" cy="566928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B1F3B"/>
                </a:solidFill>
                <a:latin typeface="Calibri"/>
              </a:rPr>
              <a:t>RTK-GNSS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965960"/>
            <a:ext cx="2331720" cy="137160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039112"/>
            <a:ext cx="2057400" cy="1225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 i="0">
                <a:solidFill>
                  <a:srgbClr val="1B1F3B"/>
                </a:solidFill>
                <a:latin typeface="Calibri"/>
              </a:rPr>
              <a:t>ESP32-S3 + LoRa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B1F3B"/>
                </a:solidFill>
                <a:latin typeface="Calibri"/>
              </a:rPr>
              <a:t>leest alle sensoren uit en bundelt de meetdata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3824" y="1883664.0"/>
            <a:ext cx="576072" cy="768096.0"/>
          </a:xfrm>
          <a:prstGeom prst="line">
            <a:avLst/>
          </a:prstGeom>
          <a:ln w="22225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63824" y="2615184.0"/>
            <a:ext cx="576072" cy="36576.0"/>
          </a:xfrm>
          <a:prstGeom prst="line">
            <a:avLst/>
          </a:prstGeom>
          <a:ln w="22225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163824" y="2651760.0"/>
            <a:ext cx="576072" cy="694944.0"/>
          </a:xfrm>
          <a:prstGeom prst="line">
            <a:avLst/>
          </a:prstGeom>
          <a:ln w="22225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35808" y="199339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5A6072"/>
                </a:solidFill>
                <a:latin typeface="Calibri"/>
              </a:rPr>
              <a:t>I2C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31012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5A6072"/>
                </a:solidFill>
                <a:latin typeface="Calibri"/>
              </a:rPr>
              <a:t>UART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331720"/>
            <a:ext cx="1965960" cy="64008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2404872"/>
            <a:ext cx="1691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USB-ontvanger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B1F3B"/>
                </a:solidFill>
                <a:latin typeface="Calibri"/>
              </a:rPr>
              <a:t>tweede LoRa-module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331720"/>
            <a:ext cx="1965960" cy="64008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404872"/>
            <a:ext cx="169164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Laptop-app</a:t>
            </a:r>
          </a:p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B1F3B"/>
                </a:solidFill>
                <a:latin typeface="Calibri"/>
              </a:rPr>
              <a:t>kaart + besturing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81344" y="2523744"/>
            <a:ext cx="850392" cy="0"/>
          </a:xfrm>
          <a:prstGeom prst="line">
            <a:avLst/>
          </a:prstGeom>
          <a:ln w="31750">
            <a:solidFill>
              <a:srgbClr val="C240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181344" y="2779776"/>
            <a:ext cx="850392" cy="0"/>
          </a:xfrm>
          <a:prstGeom prst="line">
            <a:avLst/>
          </a:prstGeom>
          <a:ln w="31750">
            <a:solidFill>
              <a:srgbClr val="C2403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53328" y="1920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1">
                <a:solidFill>
                  <a:srgbClr val="C24034"/>
                </a:solidFill>
                <a:latin typeface="Calibri"/>
              </a:rPr>
              <a:t>LoRa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017520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C24034"/>
                </a:solidFill>
                <a:latin typeface="Calibri"/>
              </a:rPr>
              <a:t>tot 4 km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07424" y="2651760"/>
            <a:ext cx="301752" cy="0"/>
          </a:xfrm>
          <a:prstGeom prst="line">
            <a:avLst/>
          </a:prstGeom>
          <a:ln w="25400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979408" y="2011680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5A6072"/>
                </a:solidFill>
                <a:latin typeface="Calibri"/>
              </a:rPr>
              <a:t>USB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6181344" y="3310128"/>
            <a:ext cx="3227832" cy="0"/>
          </a:xfrm>
          <a:prstGeom prst="line">
            <a:avLst/>
          </a:prstGeom>
          <a:ln w="19050">
            <a:solidFill>
              <a:srgbClr val="5A607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806440" y="34015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 b="0" i="1">
                <a:solidFill>
                  <a:srgbClr val="5A6072"/>
                </a:solidFill>
                <a:latin typeface="Calibri"/>
              </a:rPr>
              <a:t>stuurcommando's terug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4343400"/>
            <a:ext cx="2331720" cy="77724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4416552"/>
            <a:ext cx="205740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Arduino (voertuig)</a:t>
            </a:r>
          </a:p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1B1F3B"/>
                </a:solidFill>
                <a:latin typeface="Calibri"/>
              </a:rPr>
              <a:t>stuurt motoren en servo's aan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80560" y="3474720"/>
            <a:ext cx="0" cy="813816"/>
          </a:xfrm>
          <a:prstGeom prst="line">
            <a:avLst/>
          </a:prstGeom>
          <a:ln w="25400">
            <a:solidFill>
              <a:srgbClr val="0E6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0" y="376732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5A6072"/>
                </a:solidFill>
                <a:latin typeface="Calibri"/>
              </a:rPr>
              <a:t>UART TX/RX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5212080" y="3474720"/>
            <a:ext cx="0" cy="813816"/>
          </a:xfrm>
          <a:prstGeom prst="line">
            <a:avLst/>
          </a:prstGeom>
          <a:ln w="19050">
            <a:solidFill>
              <a:srgbClr val="5A607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22960" y="5440680"/>
            <a:ext cx="10543032" cy="777240"/>
          </a:xfrm>
          <a:prstGeom prst="roundRect">
            <a:avLst>
              <a:gd name="adj" fmla="val 12000"/>
            </a:avLst>
          </a:prstGeom>
          <a:solidFill>
            <a:srgbClr val="F1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5595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Meetdata stromen van de sensoren naar de app; stuurcommando's gaan via dezelfde weg terug.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333855"/>
                </a:solidFill>
                <a:latin typeface="Calibri"/>
              </a:rPr>
              <a:t>Bij verbindingsverlies of ongeldige commando's stopt het voertuig veilig.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Deadlines en werffases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37160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13/10/2026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371600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Voorlopige presentatie SVL (5 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11096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11096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nov-dec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11096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B1F3B"/>
                </a:solidFill>
                <a:latin typeface="Calibri"/>
              </a:rPr>
              <a:t>Onderdelen bestellen en apart testen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50592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5059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01/12/2026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450592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Evaluatie SVZ met mentor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90088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99008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dec 2026-feb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99008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B1F3B"/>
                </a:solidFill>
                <a:latin typeface="Calibri"/>
              </a:rPr>
              <a:t>Demo-app: kaart en live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529584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529584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feb-mei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529584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B1F3B"/>
                </a:solidFill>
                <a:latin typeface="Calibri"/>
              </a:rPr>
              <a:t>Volledige app: besturing erbij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06908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19-23/03/2027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069080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SVZ-presentatie (10 min)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608576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08576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mrt-mei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608576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B1F3B"/>
                </a:solidFill>
                <a:latin typeface="Calibri"/>
              </a:rPr>
              <a:t>Toestel monteren, testen en kalibreren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148072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4807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22/05/2027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148072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Opendeurdag: demo + scriptie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687568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E7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687568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21/06/2027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6875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333855"/>
                </a:solidFill>
                <a:latin typeface="Calibri"/>
              </a:rPr>
              <a:t>Juryverdediging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072"/>
                </a:solidFill>
                <a:latin typeface="Calibri"/>
              </a:rPr>
              <a:t>Groene balk = werffase   |   lichte balk = vaste mijlpaal uit de projectplanning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92608"/>
            <a:ext cx="128016" cy="566928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E6B5C"/>
                </a:solidFill>
                <a:latin typeface="Calibri"/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B1F3B"/>
                </a:solidFill>
                <a:latin typeface="Calibri"/>
              </a:rPr>
              <a:t>Bestellijst per groep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5855" cy="0"/>
          </a:xfrm>
          <a:prstGeom prst="line">
            <a:avLst/>
          </a:prstGeom>
          <a:ln w="12700">
            <a:solidFill>
              <a:srgbClr val="B9C2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60020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Sensoren (IMU, barometer, RTK-GNSS)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73352"/>
            <a:ext cx="5120640" cy="365760"/>
          </a:xfrm>
          <a:prstGeom prst="roundRect">
            <a:avLst>
              <a:gd name="adj" fmla="val 18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6648" y="16002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33855"/>
                </a:solidFill>
                <a:latin typeface="Calibri"/>
              </a:rPr>
              <a:t>79,92 €  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04872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Rekenkern + LoRa (2x XIAO-kit)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478024"/>
            <a:ext cx="1938820" cy="365760"/>
          </a:xfrm>
          <a:prstGeom prst="roundRect">
            <a:avLst>
              <a:gd name="adj" fmla="val 18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74828" y="2404872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33855"/>
                </a:solidFill>
                <a:latin typeface="Calibri"/>
              </a:rPr>
              <a:t>30,26 €  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09544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Bedrading en losse elektronica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282696"/>
            <a:ext cx="1253249" cy="365760"/>
          </a:xfrm>
          <a:prstGeom prst="roundRect">
            <a:avLst>
              <a:gd name="adj" fmla="val 18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9257" y="3209544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33855"/>
                </a:solidFill>
                <a:latin typeface="Calibri"/>
              </a:rPr>
              <a:t>19,56 € 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14216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Antennes en RF (pigtail)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087368"/>
            <a:ext cx="228737" cy="365760"/>
          </a:xfrm>
          <a:prstGeom prst="roundRect">
            <a:avLst>
              <a:gd name="adj" fmla="val 18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745" y="4014216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33855"/>
                </a:solidFill>
                <a:latin typeface="Calibri"/>
              </a:rPr>
              <a:t>3,57 €  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18888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1F3B"/>
                </a:solidFill>
                <a:latin typeface="Calibri"/>
              </a:rPr>
              <a:t>Voeding (LDO, zekering, TVS)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4892040"/>
            <a:ext cx="201168" cy="365760"/>
          </a:xfrm>
          <a:prstGeom prst="roundRect">
            <a:avLst>
              <a:gd name="adj" fmla="val 18000"/>
            </a:avLst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4818888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333855"/>
                </a:solidFill>
                <a:latin typeface="Calibri"/>
              </a:rPr>
              <a:t>1,27 €  1%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32120"/>
            <a:ext cx="10543032" cy="914400"/>
          </a:xfrm>
          <a:prstGeom prst="roundRect">
            <a:avLst>
              <a:gd name="adj" fmla="val 10000"/>
            </a:avLst>
          </a:prstGeom>
          <a:solidFill>
            <a:srgbClr val="F1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63270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E6B5C"/>
                </a:solidFill>
                <a:latin typeface="Calibri"/>
              </a:rPr>
              <a:t>Totaal: € 134,58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855"/>
                </a:solidFill>
                <a:latin typeface="Calibri"/>
              </a:rPr>
              <a:t>+ € 15,70 losse GNSS-antenne (alleen als de kit er geen meelevert) → € 150,28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632704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1" i="0">
                <a:solidFill>
                  <a:srgbClr val="1B1F3B"/>
                </a:solidFill>
                <a:latin typeface="Calibri"/>
              </a:rPr>
              <a:t>Grootste kostenpost: de sensoren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333855"/>
                </a:solidFill>
                <a:latin typeface="Calibri"/>
              </a:rPr>
              <a:t>vooral RTK-GNSS (€ 36,99) en IMU (€ 32,05) samen € 69,04. Accu, Arduino, servo's en kabels heeft de gebruiker 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B1F3B"/>
                </a:solidFill>
                <a:latin typeface="Calibri"/>
              </a:rPr>
              <a:t>Bedankt voor het luisteren.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333855"/>
                </a:solidFill>
                <a:latin typeface="Calibri"/>
              </a:rPr>
              <a:t>Vragen zijn welkom.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072"/>
                </a:solidFill>
                <a:latin typeface="Calibri"/>
              </a:rPr>
              <a:t>Nand Schoovaerts  G-STEM-P  2026-2027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